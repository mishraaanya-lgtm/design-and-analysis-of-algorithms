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Noto Sans" panose="020B0502040504020204" pitchFamily="34" charset="0"/>
      <p:regular r:id="rId18"/>
    </p:embeddedFont>
    <p:embeddedFont>
      <p:font typeface="Noto Sans Bold" panose="020B0604020202020204" charset="0"/>
      <p:regular r:id="rId19"/>
    </p:embeddedFont>
    <p:embeddedFont>
      <p:font typeface="Noto Sans Medium" panose="020B0604020202020204" charset="0"/>
      <p:regular r:id="rId20"/>
    </p:embeddedFont>
    <p:embeddedFont>
      <p:font typeface="Noto Sans Mono Medium" panose="020B0604020202020204" charset="0"/>
      <p:regular r:id="rId21"/>
    </p:embeddedFont>
    <p:embeddedFont>
      <p:font typeface="Noto Serif Devanagari" panose="020B0604020202020204" charset="0"/>
      <p:regular r:id="rId22"/>
    </p:embeddedFont>
    <p:embeddedFont>
      <p:font typeface="Noto Serif Devanagari Black" panose="020B0604020202020204" charset="0"/>
      <p:regular r:id="rId23"/>
    </p:embeddedFont>
    <p:embeddedFont>
      <p:font typeface="Noto Serif Devanagari Bold" panose="020B0604020202020204" charset="0"/>
      <p:regular r:id="rId24"/>
    </p:embeddedFont>
    <p:embeddedFont>
      <p:font typeface="Noto Serif Devanagari ExtraBold" panose="020B0604020202020204" charset="0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2" d="100"/>
          <a:sy n="52" d="100"/>
        </p:scale>
        <p:origin x="3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9435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algorithm as a method for turning a weighted network into a set of shortest-route decisions. The deck moves from graph vocabulary to the greedy rule, then through one complete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Dijkstra returns more than a number. It maintains the cost of the best route found so far and enough predecessor information to rebuild the route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five terms before using the algorithm. The graph is not just a map of connections; every edge carries a cost that the algorithm must 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safety argument depends entirely on non-negative weights. Once a vertex has the smallest tentative distance, any route reaching it through another unsettled vertex would already be at least as expensive.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Initialization does not claim that every infinity is truly unreachable. Infinity means only that no route has been discovered yet. The arrays will change as the algorithm explores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Relaxation is the local improvement operation. It never guesses the final answer; it only replaces a current record when one edge gives a cheaper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graph as undirected: each listed edge can be traversed in either direction. Do not add any edge that is not in the supplied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two improvements: C changes B from 4 to 3, and B changes D from 6 to 4. Finally D changes E from 10 to 7. The predecessor chain then reconstructs the route backwards.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pseudocode top to bottom. The same four ideas appear in the worked example: initialize, extract the smallest distance, relax its neighbors, and return both arrays.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trade-off. Adjacency lists keep the graph proportional to its vertices and edges, while the min-priority queue makes repeated minimum selection efficient. Dijkstra is systematic and reliable for non-negative weights, but Bellman–Ford is required when negative edges may 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498600"/>
            <a:ext cx="6603835" cy="4140200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3" name="Text 1"/>
          <p:cNvSpPr/>
          <p:nvPr/>
        </p:nvSpPr>
        <p:spPr>
          <a:xfrm>
            <a:off x="965176" y="1843881"/>
            <a:ext cx="650223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13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DESIGN AND ANALYSIS OF ALGORITHMS · DAA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6322" y="2354403"/>
            <a:ext cx="5892653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1A1A1A"/>
                </a:solidFill>
                <a:latin typeface="Noto Serif Devanagari Black" pitchFamily="34" charset="0"/>
                <a:ea typeface="Noto Serif Devanagari Black" pitchFamily="34" charset="-122"/>
                <a:cs typeface="Noto Serif Devanagari Black" pitchFamily="34" charset="-120"/>
              </a:rPr>
              <a:t>Dijkstra’s Shortest Path Algorithm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5176" y="3390900"/>
            <a:ext cx="6502237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From weighted graphs to a guaranteed shortest route.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5176" y="3902373"/>
            <a:ext cx="3948014" cy="31651"/>
          </a:xfrm>
          <a:prstGeom prst="roundRect">
            <a:avLst>
              <a:gd name="adj" fmla="val 49998"/>
            </a:avLst>
          </a:prstGeom>
          <a:solidFill>
            <a:srgbClr val="1B4A9B"/>
          </a:solidFill>
          <a:ln/>
        </p:spPr>
      </p:sp>
      <p:sp>
        <p:nvSpPr>
          <p:cNvPr id="7" name="Text 5"/>
          <p:cNvSpPr/>
          <p:nvPr/>
        </p:nvSpPr>
        <p:spPr>
          <a:xfrm>
            <a:off x="965176" y="4132560"/>
            <a:ext cx="5892653" cy="54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1150"/>
              </a:spcAft>
              <a:buNone/>
            </a:pPr>
            <a:r>
              <a:rPr lang="en-US" sz="1150" kern="10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Student: Aanya Mishra · prn: 25070521279 · sem/Section: 3/E-2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Generated using Gamma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6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13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THE CORE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885825"/>
            <a:ext cx="10972526" cy="122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kern="100" spc="-22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Shortest paths turn weighted graphs into decisions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2327473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At every stage, the algorithm asks one practical question: which reachable vertex can now be settled safely?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2756098"/>
            <a:ext cx="3454314" cy="2857302"/>
          </a:xfrm>
          <a:prstGeom prst="roundRect">
            <a:avLst>
              <a:gd name="adj" fmla="val 400"/>
            </a:avLst>
          </a:prstGeom>
          <a:solidFill>
            <a:srgbClr val="E6EEFB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984698"/>
            <a:ext cx="299712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Find the minimum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38179" y="3468489"/>
            <a:ext cx="2997125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Finds the minimum-cost path from one source vertex to every reachable vertex in a weighted graph.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8691" y="2756098"/>
            <a:ext cx="3454314" cy="2857302"/>
          </a:xfrm>
          <a:prstGeom prst="roundRect">
            <a:avLst>
              <a:gd name="adj" fmla="val 400"/>
            </a:avLst>
          </a:prstGeom>
          <a:solidFill>
            <a:srgbClr val="E6EEFB"/>
          </a:solidFill>
          <a:ln/>
        </p:spPr>
      </p:sp>
      <p:sp>
        <p:nvSpPr>
          <p:cNvPr id="9" name="Text 7"/>
          <p:cNvSpPr/>
          <p:nvPr/>
        </p:nvSpPr>
        <p:spPr>
          <a:xfrm>
            <a:off x="4597285" y="2984698"/>
            <a:ext cx="299712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Keep the route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97285" y="3468489"/>
            <a:ext cx="2997125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Returns both the best-known distance and the predecessor chain used to reconstruct the route.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7797" y="2756098"/>
            <a:ext cx="3454314" cy="2857302"/>
          </a:xfrm>
          <a:prstGeom prst="roundRect">
            <a:avLst>
              <a:gd name="adj" fmla="val 400"/>
            </a:avLst>
          </a:prstGeom>
          <a:solidFill>
            <a:srgbClr val="E6EEFB"/>
          </a:solidFill>
          <a:ln/>
        </p:spPr>
      </p:sp>
      <p:sp>
        <p:nvSpPr>
          <p:cNvPr id="12" name="Text 10"/>
          <p:cNvSpPr/>
          <p:nvPr/>
        </p:nvSpPr>
        <p:spPr>
          <a:xfrm>
            <a:off x="8356391" y="2984698"/>
            <a:ext cx="299712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Reason over networks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56391" y="3468489"/>
            <a:ext cx="2997125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It is a core single-source shortest-path idea in graph algorithms and network reasoning.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6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13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GRAPH VOCABULARY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885825"/>
            <a:ext cx="10972526" cy="122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kern="100" spc="-22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A graph is a map of vertices connected by weighted edges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2283420"/>
            <a:ext cx="2158946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Vertex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09585" y="2692995"/>
            <a:ext cx="215894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An object or location such as A, B, or C.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73323" y="2283420"/>
            <a:ext cx="2158946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Edge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073323" y="2692995"/>
            <a:ext cx="215894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 connection between two vertices.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585" y="4121845"/>
            <a:ext cx="2158946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Weight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09585" y="4531420"/>
            <a:ext cx="2158946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The cost of using an edge: distance, time, or delay.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73323" y="4121845"/>
            <a:ext cx="2158946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Source and destination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3073323" y="4820345"/>
            <a:ext cx="215894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Where the route starts and where it ends.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536962" y="2283420"/>
            <a:ext cx="6045148" cy="3372148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13" name="Text 11"/>
          <p:cNvSpPr/>
          <p:nvPr/>
        </p:nvSpPr>
        <p:spPr>
          <a:xfrm>
            <a:off x="5689358" y="5313878"/>
            <a:ext cx="5892752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6" dirty="0">
                <a:solidFill>
                  <a:srgbClr val="1A1A1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Weight = edge cost. A weighted graph records both connectivity and cost.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40406" y="2803128"/>
            <a:ext cx="642822" cy="642838"/>
          </a:xfrm>
          <a:prstGeom prst="ellipse">
            <a:avLst/>
          </a:prstGeom>
          <a:solidFill>
            <a:srgbClr val="F4B31A"/>
          </a:solidFill>
          <a:ln w="12700">
            <a:solidFill>
              <a:srgbClr val="1B4A9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84599" y="2803128"/>
            <a:ext cx="642822" cy="642838"/>
          </a:xfrm>
          <a:prstGeom prst="ellipse">
            <a:avLst/>
          </a:prstGeom>
          <a:solidFill>
            <a:srgbClr val="E6EEFB"/>
          </a:solidFill>
          <a:ln w="12700">
            <a:solidFill>
              <a:srgbClr val="1B4A9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0406" y="4479330"/>
            <a:ext cx="642822" cy="642838"/>
          </a:xfrm>
          <a:prstGeom prst="ellipse">
            <a:avLst/>
          </a:prstGeom>
          <a:solidFill>
            <a:srgbClr val="E6EEFB"/>
          </a:solidFill>
          <a:ln w="12700">
            <a:solidFill>
              <a:srgbClr val="1B4A9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84599" y="4479330"/>
            <a:ext cx="642822" cy="642838"/>
          </a:xfrm>
          <a:prstGeom prst="ellipse">
            <a:avLst/>
          </a:prstGeom>
          <a:solidFill>
            <a:srgbClr val="E6EEFB"/>
          </a:solidFill>
          <a:ln w="12700">
            <a:solidFill>
              <a:srgbClr val="1B4A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5647" y="2952452"/>
            <a:ext cx="172339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9919841" y="2952452"/>
            <a:ext cx="172339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B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6475647" y="4628654"/>
            <a:ext cx="172339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919841" y="4628654"/>
            <a:ext cx="172339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D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870033" y="2834005"/>
            <a:ext cx="827761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50" kern="100" spc="6" dirty="0">
                <a:solidFill>
                  <a:srgbClr val="1A1A1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4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849394" y="3775393"/>
            <a:ext cx="827761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50" kern="100" spc="6" dirty="0">
                <a:solidFill>
                  <a:srgbClr val="1A1A1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2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890572" y="3775393"/>
            <a:ext cx="827761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50" kern="100" spc="6" dirty="0">
                <a:solidFill>
                  <a:srgbClr val="1A1A1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3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870033" y="4843185"/>
            <a:ext cx="827761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50" kern="100" spc="6" dirty="0">
                <a:solidFill>
                  <a:srgbClr val="1A1A1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1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6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13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WHY THE GREEDY STEP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885825"/>
            <a:ext cx="10972526" cy="122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kern="100" spc="-22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Dijkstra makes a greedy choice that stays safe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283420"/>
            <a:ext cx="5333867" cy="2736056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5" name="Text 3"/>
          <p:cNvSpPr/>
          <p:nvPr/>
        </p:nvSpPr>
        <p:spPr>
          <a:xfrm>
            <a:off x="888978" y="2537420"/>
            <a:ext cx="4775081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Choose the smallest tentative distance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88978" y="3384352"/>
            <a:ext cx="4775081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Greedy algorithms choose the best-looking option available at each step. Dijkstra selects the unvisited vertex with the smallest tentative distance.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48244" y="2283420"/>
            <a:ext cx="5333867" cy="2736056"/>
          </a:xfrm>
          <a:prstGeom prst="rect">
            <a:avLst/>
          </a:prstGeom>
          <a:solidFill>
            <a:srgbClr val="B8322A"/>
          </a:solidFill>
          <a:ln/>
        </p:spPr>
      </p:sp>
      <p:sp>
        <p:nvSpPr>
          <p:cNvPr id="8" name="Text 6"/>
          <p:cNvSpPr/>
          <p:nvPr/>
        </p:nvSpPr>
        <p:spPr>
          <a:xfrm>
            <a:off x="6527637" y="2537420"/>
            <a:ext cx="4775081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Non-negative weights make the choice safe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27637" y="3384352"/>
            <a:ext cx="4775081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With non-negative edge weights, that distance cannot later be improved by going through a farther vertex. Negative edge weights break this guarantee; Bellman–Ford is the alternative for graphs that may contain them.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6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13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STEP 1 · SET THE STATE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885825"/>
            <a:ext cx="10972526" cy="122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kern="100" spc="-22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Initialization records what is known and what is not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2283420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Before the first choice, every vertex receives a safe default.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585" y="2712045"/>
            <a:ext cx="11582110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Input: a weighted graph and a source vertex </a:t>
            </a:r>
            <a:r>
              <a:rPr lang="en-US" sz="1450" i="1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 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.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680" y="2737445"/>
            <a:ext cx="110328" cy="2360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3061295"/>
            <a:ext cx="11582110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Set </a:t>
            </a:r>
            <a:r>
              <a:rPr lang="en-US" sz="1450" i="1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       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; set every other distance to </a:t>
            </a:r>
            <a:r>
              <a:rPr lang="en-US" sz="1450" i="1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  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.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6532" y="3086695"/>
            <a:ext cx="1247843" cy="236041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5602" y="3086695"/>
            <a:ext cx="209049" cy="2296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9585" y="3410545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Mark every vertex unvisited.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609585" y="3728045"/>
            <a:ext cx="11582110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Set </a:t>
            </a:r>
            <a:r>
              <a:rPr lang="en-US" sz="1450" i="1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           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until a best preceding vertex is found.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6532" y="3753445"/>
            <a:ext cx="1838477" cy="23604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9585" y="4196278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kern="100" spc="6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Remember:</a:t>
            </a:r>
            <a:r>
              <a:rPr lang="en-US" sz="1150" kern="10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 The distance array stores current best costs; the predecessor array reconstructs the final path.</a:t>
            </a:r>
            <a:endParaRPr lang="en-US" sz="1150" dirty="0"/>
          </a:p>
        </p:txBody>
      </p:sp>
      <p:sp>
        <p:nvSpPr>
          <p:cNvPr id="14" name="Shape 8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5" name="Text 9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3527"/>
            <a:ext cx="11582110" cy="172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100" spc="11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STEP 2 · UPDATE THE 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31453"/>
            <a:ext cx="10972526" cy="1029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700" kern="100" spc="-18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Relaxation improves a route one edge at a time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09585" y="1979216"/>
            <a:ext cx="1158211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Each pass tests whether reaching a neighbor through the current vertex is cheaper.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585" y="2298700"/>
            <a:ext cx="5333867" cy="1428651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6" name="Shape 4"/>
          <p:cNvSpPr/>
          <p:nvPr/>
        </p:nvSpPr>
        <p:spPr>
          <a:xfrm>
            <a:off x="838179" y="2527300"/>
            <a:ext cx="186626" cy="165100"/>
          </a:xfrm>
          <a:prstGeom prst="rect">
            <a:avLst/>
          </a:prstGeom>
          <a:solidFill>
            <a:srgbClr val="1B4A9B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2527300"/>
            <a:ext cx="79621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38179" y="2756297"/>
            <a:ext cx="4876678" cy="19050"/>
          </a:xfrm>
          <a:prstGeom prst="rect">
            <a:avLst/>
          </a:prstGeom>
          <a:solidFill>
            <a:srgbClr val="1B4A9B"/>
          </a:solidFill>
          <a:ln/>
        </p:spPr>
      </p:sp>
      <p:sp>
        <p:nvSpPr>
          <p:cNvPr id="9" name="Text 7"/>
          <p:cNvSpPr/>
          <p:nvPr/>
        </p:nvSpPr>
        <p:spPr>
          <a:xfrm>
            <a:off x="838179" y="2927747"/>
            <a:ext cx="4876678" cy="24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Extract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38179" y="3254474"/>
            <a:ext cx="5105272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Choose the unvisited vertex with the smallest tentative distance.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8244" y="2298700"/>
            <a:ext cx="5333867" cy="1428651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76838" y="2527300"/>
            <a:ext cx="186626" cy="165100"/>
          </a:xfrm>
          <a:prstGeom prst="rect">
            <a:avLst/>
          </a:prstGeom>
          <a:solidFill>
            <a:srgbClr val="1B4A9B"/>
          </a:solidFill>
          <a:ln/>
        </p:spPr>
      </p:sp>
      <p:sp>
        <p:nvSpPr>
          <p:cNvPr id="13" name="Text 11"/>
          <p:cNvSpPr/>
          <p:nvPr/>
        </p:nvSpPr>
        <p:spPr>
          <a:xfrm>
            <a:off x="6476838" y="2527300"/>
            <a:ext cx="79621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76838" y="2756297"/>
            <a:ext cx="4876678" cy="19050"/>
          </a:xfrm>
          <a:prstGeom prst="rect">
            <a:avLst/>
          </a:prstGeom>
          <a:solidFill>
            <a:srgbClr val="1B4A9B"/>
          </a:solidFill>
          <a:ln/>
        </p:spPr>
      </p:sp>
      <p:sp>
        <p:nvSpPr>
          <p:cNvPr id="15" name="Text 13"/>
          <p:cNvSpPr/>
          <p:nvPr/>
        </p:nvSpPr>
        <p:spPr>
          <a:xfrm>
            <a:off x="6476838" y="2927747"/>
            <a:ext cx="4876678" cy="24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Test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76838" y="3254474"/>
            <a:ext cx="5105272" cy="244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For each unvisited neighbor, compute </a:t>
            </a:r>
            <a:r>
              <a:rPr lang="en-US" sz="1200" i="1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            </a:t>
            </a:r>
            <a:r>
              <a:rPr lang="en-US" sz="12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.</a:t>
            </a:r>
            <a:endParaRPr lang="en-US" sz="12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0303" y="3273524"/>
            <a:ext cx="1795715" cy="193477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09585" y="4032151"/>
            <a:ext cx="5333867" cy="1428651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19" name="Shape 16"/>
          <p:cNvSpPr/>
          <p:nvPr/>
        </p:nvSpPr>
        <p:spPr>
          <a:xfrm>
            <a:off x="838179" y="4260751"/>
            <a:ext cx="186626" cy="165100"/>
          </a:xfrm>
          <a:prstGeom prst="rect">
            <a:avLst/>
          </a:prstGeom>
          <a:solidFill>
            <a:srgbClr val="1B4A9B"/>
          </a:solidFill>
          <a:ln/>
        </p:spPr>
      </p:sp>
      <p:sp>
        <p:nvSpPr>
          <p:cNvPr id="20" name="Text 17"/>
          <p:cNvSpPr/>
          <p:nvPr/>
        </p:nvSpPr>
        <p:spPr>
          <a:xfrm>
            <a:off x="838179" y="4260751"/>
            <a:ext cx="79621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38179" y="4489748"/>
            <a:ext cx="4876678" cy="19050"/>
          </a:xfrm>
          <a:prstGeom prst="rect">
            <a:avLst/>
          </a:prstGeom>
          <a:solidFill>
            <a:srgbClr val="1B4A9B"/>
          </a:solidFill>
          <a:ln/>
        </p:spPr>
      </p:sp>
      <p:sp>
        <p:nvSpPr>
          <p:cNvPr id="22" name="Text 19"/>
          <p:cNvSpPr/>
          <p:nvPr/>
        </p:nvSpPr>
        <p:spPr>
          <a:xfrm>
            <a:off x="838179" y="4661198"/>
            <a:ext cx="4876678" cy="24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Decide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838179" y="4987925"/>
            <a:ext cx="5105272" cy="244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If the candidate is smaller, update </a:t>
            </a:r>
            <a:r>
              <a:rPr lang="en-US" sz="1200" i="1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      </a:t>
            </a:r>
            <a:r>
              <a:rPr lang="en-US" sz="12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and </a:t>
            </a:r>
            <a:r>
              <a:rPr lang="en-US" sz="1200" i="1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       </a:t>
            </a:r>
            <a:r>
              <a:rPr lang="en-US" sz="12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.</a:t>
            </a:r>
            <a:endParaRPr lang="en-US" sz="125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2705" y="5006975"/>
            <a:ext cx="767636" cy="193477"/>
          </a:xfrm>
          <a:prstGeom prst="rect">
            <a:avLst/>
          </a:prstGeom>
        </p:spPr>
      </p:pic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3990" y="5006975"/>
            <a:ext cx="1003176" cy="193477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248244" y="4032151"/>
            <a:ext cx="5333867" cy="1428651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27" name="Shape 22"/>
          <p:cNvSpPr/>
          <p:nvPr/>
        </p:nvSpPr>
        <p:spPr>
          <a:xfrm>
            <a:off x="6476838" y="4260751"/>
            <a:ext cx="186626" cy="165100"/>
          </a:xfrm>
          <a:prstGeom prst="rect">
            <a:avLst/>
          </a:prstGeom>
          <a:solidFill>
            <a:srgbClr val="1B4A9B"/>
          </a:solidFill>
          <a:ln/>
        </p:spPr>
      </p:sp>
      <p:sp>
        <p:nvSpPr>
          <p:cNvPr id="28" name="Text 23"/>
          <p:cNvSpPr/>
          <p:nvPr/>
        </p:nvSpPr>
        <p:spPr>
          <a:xfrm>
            <a:off x="6476838" y="4260751"/>
            <a:ext cx="79621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476838" y="4489748"/>
            <a:ext cx="4876678" cy="19050"/>
          </a:xfrm>
          <a:prstGeom prst="rect">
            <a:avLst/>
          </a:prstGeom>
          <a:solidFill>
            <a:srgbClr val="1B4A9B"/>
          </a:solidFill>
          <a:ln/>
        </p:spPr>
      </p:sp>
      <p:sp>
        <p:nvSpPr>
          <p:cNvPr id="30" name="Text 25"/>
          <p:cNvSpPr/>
          <p:nvPr/>
        </p:nvSpPr>
        <p:spPr>
          <a:xfrm>
            <a:off x="6476838" y="4661198"/>
            <a:ext cx="4876678" cy="24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Record</a:t>
            </a:r>
            <a:endParaRPr lang="en-US" sz="1450" dirty="0"/>
          </a:p>
        </p:txBody>
      </p:sp>
      <p:sp>
        <p:nvSpPr>
          <p:cNvPr id="31" name="Text 26"/>
          <p:cNvSpPr/>
          <p:nvPr/>
        </p:nvSpPr>
        <p:spPr>
          <a:xfrm>
            <a:off x="6476838" y="4987925"/>
            <a:ext cx="5105272" cy="244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Mark </a:t>
            </a:r>
            <a:r>
              <a:rPr lang="en-US" sz="1200" i="1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 </a:t>
            </a:r>
            <a:r>
              <a:rPr lang="en-US" sz="12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visited and repeat until the destination is settled.</a:t>
            </a:r>
            <a:endParaRPr lang="en-US" sz="125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6288" y="5006975"/>
            <a:ext cx="108443" cy="193477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609585" y="5567759"/>
            <a:ext cx="3291698" cy="466527"/>
          </a:xfrm>
          <a:prstGeom prst="rect">
            <a:avLst/>
          </a:prstGeom>
          <a:solidFill>
            <a:srgbClr val="B8322A"/>
          </a:solidFill>
          <a:ln/>
        </p:spPr>
      </p:sp>
      <p:sp>
        <p:nvSpPr>
          <p:cNvPr id="34" name="Text 28"/>
          <p:cNvSpPr/>
          <p:nvPr/>
        </p:nvSpPr>
        <p:spPr>
          <a:xfrm>
            <a:off x="787380" y="5694759"/>
            <a:ext cx="3113903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Decision point</a:t>
            </a:r>
            <a:endParaRPr lang="en-US" sz="1250" dirty="0"/>
          </a:p>
        </p:txBody>
      </p:sp>
      <p:sp>
        <p:nvSpPr>
          <p:cNvPr id="35" name="Shape 29"/>
          <p:cNvSpPr/>
          <p:nvPr/>
        </p:nvSpPr>
        <p:spPr>
          <a:xfrm>
            <a:off x="3901283" y="5567759"/>
            <a:ext cx="7680827" cy="466527"/>
          </a:xfrm>
          <a:prstGeom prst="rect">
            <a:avLst/>
          </a:prstGeom>
          <a:solidFill>
            <a:srgbClr val="FBEAE8"/>
          </a:solidFill>
          <a:ln/>
        </p:spPr>
      </p:sp>
      <p:sp>
        <p:nvSpPr>
          <p:cNvPr id="36" name="Text 30"/>
          <p:cNvSpPr/>
          <p:nvPr/>
        </p:nvSpPr>
        <p:spPr>
          <a:xfrm>
            <a:off x="4079078" y="5694759"/>
            <a:ext cx="7503032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Shorter route found? Yes → replace the distance and predecessor. No → keep the current record.</a:t>
            </a:r>
            <a:endParaRPr lang="en-US" sz="1250" dirty="0"/>
          </a:p>
        </p:txBody>
      </p:sp>
      <p:sp>
        <p:nvSpPr>
          <p:cNvPr id="37" name="Shape 31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38" name="Text 32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483382" cy="266700"/>
          </a:xfrm>
          <a:prstGeom prst="rect">
            <a:avLst/>
          </a:prstGeom>
          <a:noFill/>
          <a:ln w="12700">
            <a:solidFill>
              <a:srgbClr val="DFDF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1182" y="657225"/>
            <a:ext cx="188977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4A9B"/>
                </a:solidFill>
                <a:latin typeface="Noto Sans Mono Medium" pitchFamily="34" charset="0"/>
                <a:ea typeface="Noto Sans Mono Medium" pitchFamily="34" charset="-122"/>
                <a:cs typeface="Noto Sans Mono Medium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1117600"/>
            <a:ext cx="3670208" cy="184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kern="100" spc="-22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Example: route from A to 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09585" y="3129855"/>
            <a:ext cx="3670208" cy="1685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115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Use an undirected weighted graph with five vertices and these seven edges.</a:t>
            </a:r>
            <a:endParaRPr lang="en-US" sz="1500" dirty="0"/>
          </a:p>
          <a:p>
            <a:pPr marL="0" indent="0" algn="l">
              <a:lnSpc>
                <a:spcPct val="121000"/>
              </a:lnSpc>
              <a:spcAft>
                <a:spcPts val="115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Edges: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A–B = 4 · A–C = 1 · C–B = 2 · B–D = 1 · C–D = 5 · D–E = 3 · B–E = 7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Source: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A · </a:t>
            </a:r>
            <a:r>
              <a:rPr lang="en-US" sz="1500" b="1" dirty="0">
                <a:solidFill>
                  <a:srgbClr val="1A1A1A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Destination: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46566" y="0"/>
            <a:ext cx="6845129" cy="6223000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7" name="Text 5"/>
          <p:cNvSpPr/>
          <p:nvPr/>
        </p:nvSpPr>
        <p:spPr>
          <a:xfrm>
            <a:off x="5473563" y="4162842"/>
            <a:ext cx="6718132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6" dirty="0">
                <a:solidFill>
                  <a:srgbClr val="1A1A1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The final route will be highlighted after the distances settle.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7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49950" y="981373"/>
            <a:ext cx="2074910" cy="12204"/>
          </a:xfrm>
          <a:prstGeom prst="line">
            <a:avLst/>
          </a:prstGeom>
          <a:solidFill>
            <a:srgbClr val="1B4A9B"/>
          </a:solidFill>
          <a:ln w="25400">
            <a:solidFill>
              <a:srgbClr val="1B4A9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9950" y="981373"/>
            <a:ext cx="1159541" cy="1891903"/>
          </a:xfrm>
          <a:prstGeom prst="line">
            <a:avLst/>
          </a:prstGeom>
          <a:solidFill>
            <a:srgbClr val="1B4A9B"/>
          </a:solidFill>
          <a:ln w="25400">
            <a:solidFill>
              <a:srgbClr val="1B4A9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24959" y="981373"/>
            <a:ext cx="1159541" cy="1891903"/>
          </a:xfrm>
          <a:prstGeom prst="line">
            <a:avLst/>
          </a:prstGeom>
          <a:solidFill>
            <a:srgbClr val="1B4A9B"/>
          </a:solidFill>
          <a:ln w="25400">
            <a:solidFill>
              <a:srgbClr val="1B4A9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9491" y="2873375"/>
            <a:ext cx="2074910" cy="12204"/>
          </a:xfrm>
          <a:prstGeom prst="line">
            <a:avLst/>
          </a:prstGeom>
          <a:solidFill>
            <a:srgbClr val="1B4A9B"/>
          </a:solidFill>
          <a:ln w="25400">
            <a:solidFill>
              <a:srgbClr val="1B4A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7609491" y="981373"/>
            <a:ext cx="915369" cy="1891903"/>
          </a:xfrm>
          <a:prstGeom prst="line">
            <a:avLst/>
          </a:prstGeom>
          <a:solidFill>
            <a:srgbClr val="1B4A9B"/>
          </a:solidFill>
          <a:ln w="25400">
            <a:solidFill>
              <a:srgbClr val="1B4A9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84500" y="2873375"/>
            <a:ext cx="1159541" cy="12204"/>
          </a:xfrm>
          <a:prstGeom prst="line">
            <a:avLst/>
          </a:prstGeom>
          <a:solidFill>
            <a:srgbClr val="1B4A9B"/>
          </a:solidFill>
          <a:ln w="25400">
            <a:solidFill>
              <a:srgbClr val="1B4A9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24959" y="981373"/>
            <a:ext cx="2319081" cy="1891903"/>
          </a:xfrm>
          <a:prstGeom prst="line">
            <a:avLst/>
          </a:prstGeom>
          <a:solidFill>
            <a:srgbClr val="1B4A9B"/>
          </a:solidFill>
          <a:ln w="25400">
            <a:solidFill>
              <a:srgbClr val="1B4A9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08250" y="639564"/>
            <a:ext cx="683501" cy="683518"/>
          </a:xfrm>
          <a:prstGeom prst="ellipse">
            <a:avLst/>
          </a:prstGeom>
          <a:solidFill>
            <a:srgbClr val="F4B31A"/>
          </a:solidFill>
          <a:ln w="12700">
            <a:solidFill>
              <a:srgbClr val="1B4A9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159" y="639564"/>
            <a:ext cx="683501" cy="683518"/>
          </a:xfrm>
          <a:prstGeom prst="ellipse">
            <a:avLst/>
          </a:prstGeom>
          <a:solidFill>
            <a:srgbClr val="E6EEFB"/>
          </a:solidFill>
          <a:ln w="12700">
            <a:solidFill>
              <a:srgbClr val="1B4A9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67790" y="2531566"/>
            <a:ext cx="683501" cy="683518"/>
          </a:xfrm>
          <a:prstGeom prst="ellipse">
            <a:avLst/>
          </a:prstGeom>
          <a:solidFill>
            <a:srgbClr val="E6EEFB"/>
          </a:solidFill>
          <a:ln w="12700">
            <a:solidFill>
              <a:srgbClr val="1B4A9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42799" y="2531566"/>
            <a:ext cx="683501" cy="683518"/>
          </a:xfrm>
          <a:prstGeom prst="ellipse">
            <a:avLst/>
          </a:prstGeom>
          <a:solidFill>
            <a:srgbClr val="E6EEFB"/>
          </a:solidFill>
          <a:ln w="12700">
            <a:solidFill>
              <a:srgbClr val="1B4A9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02340" y="2531566"/>
            <a:ext cx="683501" cy="683518"/>
          </a:xfrm>
          <a:prstGeom prst="ellipse">
            <a:avLst/>
          </a:prstGeom>
          <a:solidFill>
            <a:srgbClr val="E6EEFB"/>
          </a:solidFill>
          <a:ln w="12700">
            <a:solidFill>
              <a:srgbClr val="1B4A9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8374" y="859334"/>
            <a:ext cx="18315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433383" y="859334"/>
            <a:ext cx="18315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B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517914" y="2751237"/>
            <a:ext cx="18315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9592923" y="2751237"/>
            <a:ext cx="18315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D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10752464" y="2751237"/>
            <a:ext cx="18315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E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7054475" y="696337"/>
            <a:ext cx="841552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50" kern="100" spc="6" dirty="0">
                <a:solidFill>
                  <a:srgbClr val="1A1A1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4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31992" y="1721564"/>
            <a:ext cx="841552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50" kern="100" spc="6" dirty="0">
                <a:solidFill>
                  <a:srgbClr val="1A1A1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1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640347" y="1660545"/>
            <a:ext cx="841552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50" kern="100" spc="6" dirty="0">
                <a:solidFill>
                  <a:srgbClr val="1A1A1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2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14016" y="2746891"/>
            <a:ext cx="841552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50" kern="100" spc="6" dirty="0">
                <a:solidFill>
                  <a:srgbClr val="1A1A1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5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763277" y="1660545"/>
            <a:ext cx="841552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50" kern="100" spc="6" dirty="0">
                <a:solidFill>
                  <a:srgbClr val="1A1A1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1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983835" y="2746891"/>
            <a:ext cx="841552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50" kern="100" spc="6" dirty="0">
                <a:solidFill>
                  <a:srgbClr val="1A1A1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3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495592" y="1660545"/>
            <a:ext cx="841552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50" kern="100" spc="6" dirty="0">
                <a:solidFill>
                  <a:srgbClr val="1A1A1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7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6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13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THE DISTANCES SETTLE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885825"/>
            <a:ext cx="10972526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kern="100" spc="-22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The shortest route settles at cost 7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1668760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Start with A = 0 and all other distances = ∞. Process vertices in this order: A, C, B, D, E.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97385"/>
          <a:ext cx="7360756" cy="3038398"/>
        </p:xfrm>
        <a:graphic>
          <a:graphicData uri="http://schemas.openxmlformats.org/drawingml/2006/table">
            <a:tbl>
              <a:tblPr/>
              <a:tblGrid>
                <a:gridCol w="1224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2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32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58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4A9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Processed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4A9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4A9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B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4A9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4A9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4A9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4A9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Key update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Start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0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∞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∞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∞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∞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Source A = 0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A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0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4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1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∞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∞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A→B, A→C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C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0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3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1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6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∞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C→B improves 4→3; C→D = 6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B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0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3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1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4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10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B→D improves 6→4; B→E = 10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D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0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3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1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4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7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D→E improves 10→7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E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0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3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1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4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7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Destination settled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427430" y="2097385"/>
            <a:ext cx="3154680" cy="3038475"/>
          </a:xfrm>
          <a:prstGeom prst="rect">
            <a:avLst/>
          </a:prstGeom>
          <a:solidFill>
            <a:srgbClr val="E6F4EC"/>
          </a:solidFill>
          <a:ln/>
        </p:spPr>
      </p:sp>
      <p:sp>
        <p:nvSpPr>
          <p:cNvPr id="7" name="Text 4"/>
          <p:cNvSpPr/>
          <p:nvPr/>
        </p:nvSpPr>
        <p:spPr>
          <a:xfrm>
            <a:off x="8681423" y="2341066"/>
            <a:ext cx="290068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13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FINAL PREDECESSOR CHAIN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1423" y="2630785"/>
            <a:ext cx="290068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E ← D ← B ← C ← A</a:t>
            </a:r>
            <a:endParaRPr lang="en-US" sz="1500" dirty="0"/>
          </a:p>
        </p:txBody>
      </p:sp>
      <p:sp>
        <p:nvSpPr>
          <p:cNvPr id="5" name="Shape 6"/>
          <p:cNvSpPr/>
          <p:nvPr/>
        </p:nvSpPr>
        <p:spPr>
          <a:xfrm>
            <a:off x="8681423" y="3051473"/>
            <a:ext cx="1773193" cy="31651"/>
          </a:xfrm>
          <a:prstGeom prst="roundRect">
            <a:avLst>
              <a:gd name="adj" fmla="val 49998"/>
            </a:avLst>
          </a:prstGeom>
          <a:solidFill>
            <a:srgbClr val="1B4A9B"/>
          </a:solidFill>
          <a:ln/>
        </p:spPr>
      </p:sp>
      <p:sp>
        <p:nvSpPr>
          <p:cNvPr id="10" name="Text 7"/>
          <p:cNvSpPr/>
          <p:nvPr/>
        </p:nvSpPr>
        <p:spPr>
          <a:xfrm>
            <a:off x="8681423" y="3227685"/>
            <a:ext cx="2646693" cy="927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Shortest path:</a:t>
            </a: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A → C → B → D → E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Total cost:</a:t>
            </a: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1 + 2 + 1 + 3 = 7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49350"/>
            <a:ext cx="2743131" cy="2374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17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Pseudocode: repeat extract, relax, and record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3692426"/>
            <a:ext cx="2743131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Initialize safe defaults; select the next settled vertex; test each outgoing edge during relaxation; predecessors rebuild the route.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267093" y="0"/>
            <a:ext cx="7924602" cy="6223000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5" name="Shape 3"/>
          <p:cNvSpPr/>
          <p:nvPr/>
        </p:nvSpPr>
        <p:spPr>
          <a:xfrm>
            <a:off x="4470288" y="315913"/>
            <a:ext cx="7518212" cy="4343400"/>
          </a:xfrm>
          <a:prstGeom prst="roundRect">
            <a:avLst>
              <a:gd name="adj" fmla="val 263"/>
            </a:avLst>
          </a:prstGeom>
          <a:solidFill>
            <a:srgbClr val="E6EEFB"/>
          </a:solidFill>
          <a:ln/>
        </p:spPr>
      </p:sp>
      <p:sp>
        <p:nvSpPr>
          <p:cNvPr id="6" name="Text 4"/>
          <p:cNvSpPr/>
          <p:nvPr/>
        </p:nvSpPr>
        <p:spPr>
          <a:xfrm>
            <a:off x="4698882" y="506413"/>
            <a:ext cx="7061023" cy="396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DIJKSTRA(G, source):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each vertex v in G: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distance[v] ← ∞; predecessor[v] ← NIL; visited[v] ← false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distance[source] ← 0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there is an unvisited vertex: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 ← unvisited vertex with minimum distance[u]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visited[u] ← true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neighbor v of u: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candidate ← distance[u] + weight(u, v)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candidate &lt; distance[v]: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distance[v] ← candidate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predecessor[v] ← u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distance, predecessor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F4B31A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99281"/>
            <a:ext cx="670543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13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COMPLEXITY AND LIMITS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860425"/>
            <a:ext cx="6172046" cy="184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kern="100" spc="-22" dirty="0">
                <a:solidFill>
                  <a:srgbClr val="000000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Efficiency comes from the graph representation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09585" y="2872680"/>
            <a:ext cx="6172046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The data structure determines how quickly the next smallest distance can be found.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3651151"/>
            <a:ext cx="3086023" cy="2520950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3869432"/>
            <a:ext cx="285742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13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8179" y="4130576"/>
            <a:ext cx="2628834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000000"/>
                </a:solidFill>
                <a:latin typeface="Noto Serif Devanagari Black" pitchFamily="34" charset="0"/>
                <a:ea typeface="Noto Serif Devanagari Black" pitchFamily="34" charset="-122"/>
                <a:cs typeface="Noto Serif Devanagari Black" pitchFamily="34" charset="-120"/>
              </a:rPr>
              <a:t>O((V + E) log V)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38179" y="5416451"/>
            <a:ext cx="262883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With an adjacency list and a min-priority queue.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95608" y="3651151"/>
            <a:ext cx="3086023" cy="2520950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11" name="Text 9"/>
          <p:cNvSpPr/>
          <p:nvPr/>
        </p:nvSpPr>
        <p:spPr>
          <a:xfrm>
            <a:off x="3924202" y="3869432"/>
            <a:ext cx="285742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13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SPACE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24202" y="4130576"/>
            <a:ext cx="2628834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000000"/>
                </a:solidFill>
                <a:latin typeface="Noto Serif Devanagari Black" pitchFamily="34" charset="0"/>
                <a:ea typeface="Noto Serif Devanagari Black" pitchFamily="34" charset="-122"/>
                <a:cs typeface="Noto Serif Devanagari Black" pitchFamily="34" charset="-120"/>
              </a:rPr>
              <a:t>O(V + E)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924202" y="4857651"/>
            <a:ext cx="2628834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Adjacency-list storage; distance, predecessor, visited, and queue data add O(V).</a:t>
            </a:r>
            <a:endParaRPr lang="en-US" sz="15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404" y="508000"/>
            <a:ext cx="3809905" cy="537785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848404" y="5963563"/>
            <a:ext cx="3809905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A good representation makes repeated choices efficient.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843712-6D89-7403-3F68-B25A777F7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029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1301</Words>
  <Application>Microsoft Office PowerPoint</Application>
  <PresentationFormat>Widescreen</PresentationFormat>
  <Paragraphs>191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Noto Serif Devanagari</vt:lpstr>
      <vt:lpstr>Noto Sans Medium</vt:lpstr>
      <vt:lpstr>Noto Sans Bold</vt:lpstr>
      <vt:lpstr>Noto Serif Devanagari Black</vt:lpstr>
      <vt:lpstr>Noto Serif Devanagari ExtraBold</vt:lpstr>
      <vt:lpstr>Consolas</vt:lpstr>
      <vt:lpstr>Noto Serif Devanagari Bold</vt:lpstr>
      <vt:lpstr>Noto Sans Mono Medium</vt:lpstr>
      <vt:lpstr>Noto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ajit mishra</cp:lastModifiedBy>
  <cp:revision>2</cp:revision>
  <dcterms:created xsi:type="dcterms:W3CDTF">2026-10-19T17:13:18Z</dcterms:created>
  <dcterms:modified xsi:type="dcterms:W3CDTF">2026-10-20T06:49:10Z</dcterms:modified>
</cp:coreProperties>
</file>